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0FE84-1CB7-4686-B395-65581B40C106}" v="2" dt="2026-07-26T05:05:41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nani268@gmail.com" userId="1102890e3e03e203" providerId="LiveId" clId="{1A8B5444-C271-4B74-94C6-AB2AA389DA3A}"/>
    <pc:docChg chg="modSld">
      <pc:chgData name="shashanknani268@gmail.com" userId="1102890e3e03e203" providerId="LiveId" clId="{1A8B5444-C271-4B74-94C6-AB2AA389DA3A}" dt="2026-07-26T05:06:14.437" v="10" actId="1076"/>
      <pc:docMkLst>
        <pc:docMk/>
      </pc:docMkLst>
      <pc:sldChg chg="addSp modSp mod">
        <pc:chgData name="shashanknani268@gmail.com" userId="1102890e3e03e203" providerId="LiveId" clId="{1A8B5444-C271-4B74-94C6-AB2AA389DA3A}" dt="2026-07-26T05:06:14.437" v="10" actId="1076"/>
        <pc:sldMkLst>
          <pc:docMk/>
          <pc:sldMk cId="2277392945" sldId="267"/>
        </pc:sldMkLst>
        <pc:spChg chg="add mod">
          <ac:chgData name="shashanknani268@gmail.com" userId="1102890e3e03e203" providerId="LiveId" clId="{1A8B5444-C271-4B74-94C6-AB2AA389DA3A}" dt="2026-07-26T05:06:14.437" v="10" actId="1076"/>
          <ac:spMkLst>
            <pc:docMk/>
            <pc:sldMk cId="2277392945" sldId="267"/>
            <ac:spMk id="4" creationId="{2B75BBF3-5017-36E4-4688-4EEA1ED268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9146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026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143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5327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9481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21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551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1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9238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680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632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90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2D6E202-B606-4609-B914-27C9371A1F6D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10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250" y="238541"/>
            <a:ext cx="8404032" cy="4521238"/>
          </a:xfrm>
        </p:spPr>
        <p:txBody>
          <a:bodyPr>
            <a:noAutofit/>
          </a:bodyPr>
          <a:lstStyle/>
          <a:p>
            <a:r>
              <a:rPr lang="en-IN" sz="7200" dirty="0"/>
              <a:t>IBM</a:t>
            </a:r>
            <a:br>
              <a:rPr lang="en-IN" sz="7200" dirty="0"/>
            </a:br>
            <a:r>
              <a:rPr lang="en-IN" sz="7200" dirty="0"/>
              <a:t>Data Science Capstone Project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2" y="4599260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:M. Shashank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4161614" cy="6857999"/>
          </a:xfrm>
          <a:prstGeom prst="rect">
            <a:avLst/>
          </a:prstGeom>
        </p:spPr>
      </p:pic>
      <p:pic>
        <p:nvPicPr>
          <p:cNvPr id="4" name="Picture 3" descr="SpaceX's New Rocket at Launch Pad for Final Tests - SpaceNews">
            <a:extLst>
              <a:ext uri="{FF2B5EF4-FFF2-40B4-BE49-F238E27FC236}">
                <a16:creationId xmlns:a16="http://schemas.microsoft.com/office/drawing/2014/main" id="{A2B35CA8-64DC-50BC-9AB9-04EC9C8D0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616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9177-30D1-B4A5-9A80-54D18C34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5993"/>
            <a:ext cx="11274879" cy="1208314"/>
          </a:xfrm>
        </p:spPr>
        <p:txBody>
          <a:bodyPr anchor="ctr"/>
          <a:lstStyle/>
          <a:p>
            <a:pPr algn="ctr"/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E50ED-65A4-9C7E-48E1-67573956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877"/>
            <a:ext cx="11029615" cy="3872285"/>
          </a:xfrm>
        </p:spPr>
        <p:txBody>
          <a:bodyPr anchor="t"/>
          <a:lstStyle/>
          <a:p>
            <a:r>
              <a:rPr lang="en-IN" b="1" dirty="0"/>
              <a:t>Objective</a:t>
            </a:r>
          </a:p>
          <a:p>
            <a:r>
              <a:rPr lang="en-IN" dirty="0"/>
              <a:t>The objective of this project is to predict whether the first stage of a SpaceX Falcon 9 rocket will land successfully.</a:t>
            </a:r>
          </a:p>
          <a:p>
            <a:r>
              <a:rPr lang="en-IN" b="1" dirty="0"/>
              <a:t>Why is this important?</a:t>
            </a:r>
          </a:p>
          <a:p>
            <a:r>
              <a:rPr lang="en-IN" dirty="0"/>
              <a:t>Falcon 9 is a reusable launch vehicle. </a:t>
            </a:r>
          </a:p>
          <a:p>
            <a:r>
              <a:rPr lang="en-IN" dirty="0"/>
              <a:t>Successful landings reduce launch costs. </a:t>
            </a:r>
          </a:p>
          <a:p>
            <a:r>
              <a:rPr lang="en-IN" dirty="0"/>
              <a:t>Predicting landing success helps estimate the overall mission cost. </a:t>
            </a:r>
          </a:p>
          <a:p>
            <a:r>
              <a:rPr lang="en-IN" dirty="0"/>
              <a:t>Data science techniques can improve decision-making using historical launch data.</a:t>
            </a:r>
          </a:p>
        </p:txBody>
      </p:sp>
    </p:spTree>
    <p:extLst>
      <p:ext uri="{BB962C8B-B14F-4D97-AF65-F5344CB8AC3E}">
        <p14:creationId xmlns:p14="http://schemas.microsoft.com/office/powerpoint/2010/main" val="193982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875C-905D-A72B-0100-7633B185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/>
              <a:t>Data Collection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E7FD88-BAB3-053C-AF84-4BF785BBA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66" y="2282024"/>
            <a:ext cx="4992839" cy="27909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67B13F-5A91-C749-D61A-6CBFF2246825}"/>
              </a:ext>
            </a:extLst>
          </p:cNvPr>
          <p:cNvSpPr txBox="1"/>
          <p:nvPr/>
        </p:nvSpPr>
        <p:spPr>
          <a:xfrm>
            <a:off x="5836258" y="2282024"/>
            <a:ext cx="5939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launch data was collected from multiple sources:</a:t>
            </a:r>
          </a:p>
          <a:p>
            <a:r>
              <a:rPr lang="en-IN" dirty="0"/>
              <a:t>SpaceX REST API </a:t>
            </a:r>
          </a:p>
          <a:p>
            <a:r>
              <a:rPr lang="en-IN" dirty="0"/>
              <a:t>Wikipedia Web Scraping </a:t>
            </a:r>
          </a:p>
          <a:p>
            <a:r>
              <a:rPr lang="en-IN" dirty="0"/>
              <a:t>Historical Falcon 9 launch records </a:t>
            </a:r>
          </a:p>
          <a:p>
            <a:r>
              <a:rPr lang="en-IN" b="1" dirty="0"/>
              <a:t>Tools Used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Requests </a:t>
            </a:r>
          </a:p>
          <a:p>
            <a:r>
              <a:rPr lang="en-IN" dirty="0"/>
              <a:t>BeautifulSoup </a:t>
            </a:r>
          </a:p>
          <a:p>
            <a:r>
              <a:rPr lang="en-IN" dirty="0"/>
              <a:t>Pandas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64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C6D9-E079-C0FD-6A9B-42B116D9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/>
              <a:t>Data Wrangling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D91086-868A-EFB0-4B58-93A172E812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6448" y="2313830"/>
            <a:ext cx="3371353" cy="339093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9A58F-9033-71C5-93DB-DDAB5728B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7172" y="2144740"/>
            <a:ext cx="6903635" cy="398360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Data Wrangling</a:t>
            </a:r>
          </a:p>
          <a:p>
            <a:r>
              <a:rPr lang="en-IN" dirty="0"/>
              <a:t>The collected data was cleaned and prepared before analysis.</a:t>
            </a:r>
          </a:p>
          <a:p>
            <a:r>
              <a:rPr lang="en-IN" b="1" dirty="0"/>
              <a:t>Steps Performed</a:t>
            </a:r>
          </a:p>
          <a:p>
            <a:r>
              <a:rPr lang="en-IN" dirty="0"/>
              <a:t>Removed Falcon 1 launches </a:t>
            </a:r>
          </a:p>
          <a:p>
            <a:r>
              <a:rPr lang="en-IN" dirty="0"/>
              <a:t>Filtered only Falcon 9 launches </a:t>
            </a:r>
          </a:p>
          <a:p>
            <a:r>
              <a:rPr lang="en-IN" dirty="0"/>
              <a:t>Handled missing values </a:t>
            </a:r>
          </a:p>
          <a:p>
            <a:r>
              <a:rPr lang="en-IN" dirty="0"/>
              <a:t>Cleaned duplicate records </a:t>
            </a:r>
          </a:p>
          <a:p>
            <a:r>
              <a:rPr lang="en-IN" dirty="0"/>
              <a:t>Prepared the dataset for analysis </a:t>
            </a:r>
          </a:p>
          <a:p>
            <a:r>
              <a:rPr lang="en-IN" b="1" dirty="0"/>
              <a:t>Result</a:t>
            </a:r>
          </a:p>
          <a:p>
            <a:r>
              <a:rPr lang="en-IN" dirty="0"/>
              <a:t>A clean and structured dataset was created for further analysis and machine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21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287D-8184-8B0D-ECE0-6E5D1B42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/>
              <a:t>Exploratory Data Analysis (EDA)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70C10A-D90B-7C34-A46B-A57BBB32CD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2333" y="2227264"/>
            <a:ext cx="4246833" cy="358570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B658F-A33D-95AE-156B-2516E5A73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4948" y="2228003"/>
            <a:ext cx="6295859" cy="373833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Exploratory Data Analysis</a:t>
            </a:r>
          </a:p>
          <a:p>
            <a:r>
              <a:rPr lang="en-IN" dirty="0"/>
              <a:t>Several factors affecting landing success were </a:t>
            </a:r>
            <a:r>
              <a:rPr lang="en-IN" dirty="0" err="1"/>
              <a:t>analyzed</a:t>
            </a:r>
            <a:r>
              <a:rPr lang="en-IN" dirty="0"/>
              <a:t>.</a:t>
            </a:r>
          </a:p>
          <a:p>
            <a:r>
              <a:rPr lang="en-IN" b="1" dirty="0"/>
              <a:t>Analysis Performed</a:t>
            </a:r>
          </a:p>
          <a:p>
            <a:r>
              <a:rPr lang="en-IN" dirty="0"/>
              <a:t>Payload Mass vs Landing Success </a:t>
            </a:r>
          </a:p>
          <a:p>
            <a:r>
              <a:rPr lang="en-IN" dirty="0"/>
              <a:t>Flight Number vs Landing Success </a:t>
            </a:r>
          </a:p>
          <a:p>
            <a:r>
              <a:rPr lang="en-IN" dirty="0"/>
              <a:t>Orbit vs Landing Success </a:t>
            </a:r>
          </a:p>
          <a:p>
            <a:r>
              <a:rPr lang="en-IN" dirty="0"/>
              <a:t>Launch Site vs Landing Success </a:t>
            </a:r>
          </a:p>
          <a:p>
            <a:r>
              <a:rPr lang="en-IN" b="1" dirty="0"/>
              <a:t>Observation</a:t>
            </a:r>
          </a:p>
          <a:p>
            <a:r>
              <a:rPr lang="en-IN" dirty="0"/>
              <a:t>The analysis revealed patterns between launch characteristics and successful landings.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49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49E8-2068-76C3-082C-447B7B3A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/>
              <a:t>SQL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FE98B4-FCC1-EC6E-C056-947F8F4025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7280" y="2228003"/>
            <a:ext cx="3132813" cy="338561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862F2-B00A-3770-FB72-7CE4A991F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810" y="2228003"/>
            <a:ext cx="6354997" cy="3881175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SQL Analysis</a:t>
            </a:r>
          </a:p>
          <a:p>
            <a:r>
              <a:rPr lang="en-IN" dirty="0"/>
              <a:t>SQL was used to </a:t>
            </a:r>
            <a:r>
              <a:rPr lang="en-IN" dirty="0" err="1"/>
              <a:t>analyze</a:t>
            </a:r>
            <a:r>
              <a:rPr lang="en-IN" dirty="0"/>
              <a:t> the launch dataset.</a:t>
            </a:r>
          </a:p>
          <a:p>
            <a:r>
              <a:rPr lang="en-IN" b="1" dirty="0"/>
              <a:t>Queries Performed</a:t>
            </a:r>
          </a:p>
          <a:p>
            <a:r>
              <a:rPr lang="en-IN" dirty="0"/>
              <a:t>Total number of launches </a:t>
            </a:r>
          </a:p>
          <a:p>
            <a:r>
              <a:rPr lang="en-IN" dirty="0"/>
              <a:t>Launches by site </a:t>
            </a:r>
          </a:p>
          <a:p>
            <a:r>
              <a:rPr lang="en-IN" dirty="0"/>
              <a:t>Booster versions </a:t>
            </a:r>
          </a:p>
          <a:p>
            <a:r>
              <a:rPr lang="en-IN" dirty="0"/>
              <a:t>Payload statistics </a:t>
            </a:r>
          </a:p>
          <a:p>
            <a:r>
              <a:rPr lang="en-IN" dirty="0"/>
              <a:t>Successful missions </a:t>
            </a:r>
          </a:p>
          <a:p>
            <a:r>
              <a:rPr lang="en-IN" b="1" dirty="0"/>
              <a:t>Result</a:t>
            </a:r>
          </a:p>
          <a:p>
            <a:r>
              <a:rPr lang="en-IN" dirty="0"/>
              <a:t>SQL helped extract meaningful information from the dataset for further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11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B78B-C465-D6EC-29BB-9B72E73E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/>
              <a:t>Interactive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2EE46C-F11E-8ABC-9FB4-04704DF47B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2600076"/>
            <a:ext cx="4849916" cy="263188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5EF3A-264C-BFE4-0B8D-F5024B0B9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75082" y="2228003"/>
            <a:ext cx="6235727" cy="3633047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Interactive Dashboard</a:t>
            </a:r>
          </a:p>
          <a:p>
            <a:r>
              <a:rPr lang="en-IN" dirty="0"/>
              <a:t>An interactive dashboard was developed to visualize launch information.</a:t>
            </a:r>
          </a:p>
          <a:p>
            <a:r>
              <a:rPr lang="en-IN" b="1" dirty="0"/>
              <a:t>Dashboard Features</a:t>
            </a:r>
          </a:p>
          <a:p>
            <a:r>
              <a:rPr lang="en-IN" dirty="0"/>
              <a:t>Launch Site Selection </a:t>
            </a:r>
          </a:p>
          <a:p>
            <a:r>
              <a:rPr lang="en-IN" dirty="0"/>
              <a:t>Payload Range Slider </a:t>
            </a:r>
          </a:p>
          <a:p>
            <a:r>
              <a:rPr lang="en-IN" dirty="0"/>
              <a:t>Pie Chart </a:t>
            </a:r>
          </a:p>
          <a:p>
            <a:r>
              <a:rPr lang="en-IN" dirty="0"/>
              <a:t>Scatter Plot </a:t>
            </a:r>
          </a:p>
          <a:p>
            <a:r>
              <a:rPr lang="en-IN" dirty="0"/>
              <a:t>Interactive Filtering </a:t>
            </a:r>
          </a:p>
          <a:p>
            <a:r>
              <a:rPr lang="en-IN" b="1" dirty="0"/>
              <a:t>Benefit</a:t>
            </a:r>
          </a:p>
          <a:p>
            <a:r>
              <a:rPr lang="en-IN" dirty="0"/>
              <a:t>The dashboard enables users to explore launch data visually and interactively.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06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6177-DCB5-BAFA-B5BF-2C6393CF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IN" dirty="0"/>
              <a:t>Machine Learning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0E990F-ECF6-827D-1C9F-4450A11772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0344" y="2679590"/>
            <a:ext cx="4858247" cy="246042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C00C8-E61D-B48A-E3C5-089A51557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7861" y="2228003"/>
            <a:ext cx="6362948" cy="363304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Machine Learning Models</a:t>
            </a:r>
          </a:p>
          <a:p>
            <a:r>
              <a:rPr lang="en-IN" dirty="0"/>
              <a:t>Several machine learning models were trained to predict landing success.</a:t>
            </a:r>
          </a:p>
          <a:p>
            <a:r>
              <a:rPr lang="en-IN" b="1" dirty="0"/>
              <a:t>Models Used</a:t>
            </a:r>
          </a:p>
          <a:p>
            <a:r>
              <a:rPr lang="en-IN" dirty="0"/>
              <a:t>Logistic Regression </a:t>
            </a:r>
          </a:p>
          <a:p>
            <a:r>
              <a:rPr lang="en-IN" dirty="0"/>
              <a:t>Support Vector Machine (SVM) </a:t>
            </a:r>
          </a:p>
          <a:p>
            <a:r>
              <a:rPr lang="en-IN" dirty="0"/>
              <a:t>Decision Tree </a:t>
            </a:r>
          </a:p>
          <a:p>
            <a:r>
              <a:rPr lang="en-IN" dirty="0"/>
              <a:t>K-Nearest Neighbours (KNN) </a:t>
            </a:r>
          </a:p>
          <a:p>
            <a:r>
              <a:rPr lang="en-IN" b="1" dirty="0"/>
              <a:t>Result</a:t>
            </a:r>
          </a:p>
          <a:p>
            <a:r>
              <a:rPr lang="en-IN" dirty="0"/>
              <a:t>The models were evaluated using test accuracy, and the best-performing model was selected based on its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6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8C366B-738C-0C6C-D7B0-4FE9CC08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997" y="829376"/>
            <a:ext cx="11029616" cy="1013800"/>
          </a:xfrm>
        </p:spPr>
        <p:txBody>
          <a:bodyPr anchor="ctr"/>
          <a:lstStyle/>
          <a:p>
            <a:pPr algn="ctr"/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4E7D7-A0FD-5C4B-4F18-617043EFD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972"/>
            <a:ext cx="11029615" cy="428444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Conclusion</a:t>
            </a:r>
          </a:p>
          <a:p>
            <a:r>
              <a:rPr lang="en-IN" b="1" dirty="0"/>
              <a:t>Project Summary</a:t>
            </a:r>
          </a:p>
          <a:p>
            <a:r>
              <a:rPr lang="en-IN" dirty="0"/>
              <a:t>Successfully collected SpaceX launch data. </a:t>
            </a:r>
          </a:p>
          <a:p>
            <a:r>
              <a:rPr lang="en-IN" dirty="0"/>
              <a:t>Cleaned and prepared the dataset. </a:t>
            </a:r>
          </a:p>
          <a:p>
            <a:r>
              <a:rPr lang="en-IN" dirty="0"/>
              <a:t>Performed exploratory data analysis. </a:t>
            </a:r>
          </a:p>
          <a:p>
            <a:r>
              <a:rPr lang="en-IN" dirty="0"/>
              <a:t>Built an interactive dashboard. </a:t>
            </a:r>
          </a:p>
          <a:p>
            <a:r>
              <a:rPr lang="en-IN" dirty="0"/>
              <a:t>Developed machine learning models to predict Falcon 9 landing success. </a:t>
            </a:r>
          </a:p>
          <a:p>
            <a:r>
              <a:rPr lang="en-IN" b="1" dirty="0"/>
              <a:t>Future Scope</a:t>
            </a:r>
          </a:p>
          <a:p>
            <a:r>
              <a:rPr lang="en-IN" dirty="0"/>
              <a:t>Improve prediction accuracy using more advanced machine learning models. </a:t>
            </a:r>
          </a:p>
          <a:p>
            <a:r>
              <a:rPr lang="en-IN" dirty="0"/>
              <a:t>Include additional launch parameters. </a:t>
            </a:r>
          </a:p>
          <a:p>
            <a:r>
              <a:rPr lang="en-IN" dirty="0"/>
              <a:t>Develop a real-time prediction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357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1F97-DA3A-30B4-D40F-5D0F07AA7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42" y="758952"/>
            <a:ext cx="10986715" cy="4087368"/>
          </a:xfrm>
        </p:spPr>
        <p:txBody>
          <a:bodyPr anchor="ctr"/>
          <a:lstStyle/>
          <a:p>
            <a:pPr algn="ctr"/>
            <a:r>
              <a:rPr lang="en-IN" dirty="0"/>
              <a:t>Thank You🙏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926DD-B51D-56EB-A14B-F30644AA7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4309607"/>
            <a:ext cx="11515277" cy="1932167"/>
          </a:xfrm>
        </p:spPr>
        <p:txBody>
          <a:bodyPr>
            <a:normAutofit/>
          </a:bodyPr>
          <a:lstStyle/>
          <a:p>
            <a:r>
              <a:rPr lang="en-IN" sz="2800" dirty="0"/>
              <a:t>IBM Data Science Capstone Project</a:t>
            </a:r>
          </a:p>
          <a:p>
            <a:r>
              <a:rPr lang="en-IN" sz="2800" b="1" dirty="0"/>
              <a:t>Presented by:</a:t>
            </a:r>
            <a:r>
              <a:rPr lang="en-IN" sz="2800" dirty="0"/>
              <a:t> </a:t>
            </a:r>
            <a:r>
              <a:rPr lang="en-IN" sz="2800" i="1" dirty="0">
                <a:latin typeface="Aptos" panose="020B0004020202020204" pitchFamily="34" charset="0"/>
              </a:rPr>
              <a:t>M. Shashank</a:t>
            </a:r>
            <a:endParaRPr lang="en-IN" sz="28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5BBF3-5017-36E4-4688-4EEA1ED26887}"/>
              </a:ext>
            </a:extLst>
          </p:cNvPr>
          <p:cNvSpPr txBox="1"/>
          <p:nvPr/>
        </p:nvSpPr>
        <p:spPr>
          <a:xfrm>
            <a:off x="320039" y="4261545"/>
            <a:ext cx="4194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Questions?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9294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174</TotalTime>
  <Words>418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Gill Sans MT</vt:lpstr>
      <vt:lpstr>Wingdings 2</vt:lpstr>
      <vt:lpstr>Dividend</vt:lpstr>
      <vt:lpstr>IBM Data Science Capstone Project</vt:lpstr>
      <vt:lpstr>Project Overview</vt:lpstr>
      <vt:lpstr>Data Collection</vt:lpstr>
      <vt:lpstr>Data Wrangling</vt:lpstr>
      <vt:lpstr>Exploratory Data Analysis (EDA)</vt:lpstr>
      <vt:lpstr>SQL Analysis</vt:lpstr>
      <vt:lpstr>Interactive Dashboard</vt:lpstr>
      <vt:lpstr>Machine Learning</vt:lpstr>
      <vt:lpstr>Conclusion </vt:lpstr>
      <vt:lpstr>Thank You🙏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shashanknani268@gmail.com</dc:creator>
  <cp:lastModifiedBy>shashanknani268@gmail.com</cp:lastModifiedBy>
  <cp:revision>1</cp:revision>
  <dcterms:created xsi:type="dcterms:W3CDTF">2026-07-26T02:08:58Z</dcterms:created>
  <dcterms:modified xsi:type="dcterms:W3CDTF">2026-07-26T05:06:17Z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